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India Inflation (%)</c:v>
                </c:pt>
              </c:strCache>
            </c:strRef>
          </c:tx>
          <c:spPr>
            <a:solidFill>
              <a:srgbClr val="F5A623"/>
            </a:solidFill>
            <a:ln w="3175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1987</c:v>
                  </c:pt>
                  <c:pt idx="1">
                    <c:v>1989</c:v>
                  </c:pt>
                  <c:pt idx="2">
                    <c:v>1990</c:v>
                  </c:pt>
                  <c:pt idx="3">
                    <c:v>1991</c:v>
                  </c:pt>
                  <c:pt idx="4">
                    <c:v>1993</c:v>
                  </c:pt>
                  <c:pt idx="5">
                    <c:v>1995</c:v>
                  </c:pt>
                  <c:pt idx="6">
                    <c:v>1997</c:v>
                  </c:pt>
                  <c:pt idx="7">
                    <c:v>1999</c:v>
                  </c:pt>
                  <c:pt idx="8">
                    <c:v>2000</c:v>
                  </c:pt>
                  <c:pt idx="9">
                    <c:v>2003</c:v>
                  </c:pt>
                  <c:pt idx="10">
                    <c:v>2005</c:v>
                  </c:pt>
                  <c:pt idx="11">
                    <c:v>2008</c:v>
                  </c:pt>
                  <c:pt idx="12">
                    <c:v>2011</c:v>
                  </c:pt>
                  <c:pt idx="13">
                    <c:v>2013</c:v>
                  </c:pt>
                  <c:pt idx="14">
                    <c:v>2015</c:v>
                  </c:pt>
                  <c:pt idx="15">
                    <c:v>2017</c:v>
                  </c:pt>
                  <c:pt idx="16">
                    <c:v>2019</c:v>
                  </c:pt>
                  <c:pt idx="17">
                    <c:v>2020</c:v>
                  </c:pt>
                  <c:pt idx="18">
                    <c:v>2022</c:v>
                  </c:pt>
                  <c:pt idx="19">
                    <c:v>2024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8.8</c:v>
                </c:pt>
                <c:pt idx="1">
                  <c:v>7.1</c:v>
                </c:pt>
                <c:pt idx="2">
                  <c:v>9</c:v>
                </c:pt>
                <c:pt idx="3">
                  <c:v>13.9</c:v>
                </c:pt>
                <c:pt idx="4">
                  <c:v>6.3</c:v>
                </c:pt>
                <c:pt idx="5">
                  <c:v>10.2</c:v>
                </c:pt>
                <c:pt idx="6">
                  <c:v>7.2</c:v>
                </c:pt>
                <c:pt idx="7">
                  <c:v>4.7</c:v>
                </c:pt>
                <c:pt idx="8">
                  <c:v>4</c:v>
                </c:pt>
                <c:pt idx="9">
                  <c:v>3.8</c:v>
                </c:pt>
                <c:pt idx="10">
                  <c:v>4.2</c:v>
                </c:pt>
                <c:pt idx="11">
                  <c:v>8.3</c:v>
                </c:pt>
                <c:pt idx="12">
                  <c:v>8.9</c:v>
                </c:pt>
                <c:pt idx="13">
                  <c:v>10</c:v>
                </c:pt>
                <c:pt idx="14">
                  <c:v>4.9</c:v>
                </c:pt>
                <c:pt idx="15">
                  <c:v>3.3</c:v>
                </c:pt>
                <c:pt idx="16">
                  <c:v>3.7</c:v>
                </c:pt>
                <c:pt idx="17">
                  <c:v>6.6</c:v>
                </c:pt>
                <c:pt idx="18">
                  <c:v>6.7</c:v>
                </c:pt>
                <c:pt idx="19">
                  <c:v>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Brent Oil Price (USD/barrel ÷ 10)</c:v>
                </c:pt>
              </c:strCache>
            </c:strRef>
          </c:tx>
          <c:spPr>
            <a:solidFill>
              <a:srgbClr val="185A9D"/>
            </a:solidFill>
            <a:ln w="31750" cap="flat">
              <a:solidFill>
                <a:srgbClr val="185A9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85A9D"/>
              </a:solidFill>
              <a:ln w="9525" cap="flat">
                <a:solidFill>
                  <a:srgbClr val="185A9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1987</c:v>
                  </c:pt>
                  <c:pt idx="1">
                    <c:v>1989</c:v>
                  </c:pt>
                  <c:pt idx="2">
                    <c:v>1990</c:v>
                  </c:pt>
                  <c:pt idx="3">
                    <c:v>1991</c:v>
                  </c:pt>
                  <c:pt idx="4">
                    <c:v>1993</c:v>
                  </c:pt>
                  <c:pt idx="5">
                    <c:v>1995</c:v>
                  </c:pt>
                  <c:pt idx="6">
                    <c:v>1997</c:v>
                  </c:pt>
                  <c:pt idx="7">
                    <c:v>1999</c:v>
                  </c:pt>
                  <c:pt idx="8">
                    <c:v>2000</c:v>
                  </c:pt>
                  <c:pt idx="9">
                    <c:v>2003</c:v>
                  </c:pt>
                  <c:pt idx="10">
                    <c:v>2005</c:v>
                  </c:pt>
                  <c:pt idx="11">
                    <c:v>2008</c:v>
                  </c:pt>
                  <c:pt idx="12">
                    <c:v>2011</c:v>
                  </c:pt>
                  <c:pt idx="13">
                    <c:v>2013</c:v>
                  </c:pt>
                  <c:pt idx="14">
                    <c:v>2015</c:v>
                  </c:pt>
                  <c:pt idx="15">
                    <c:v>2017</c:v>
                  </c:pt>
                  <c:pt idx="16">
                    <c:v>2019</c:v>
                  </c:pt>
                  <c:pt idx="17">
                    <c:v>2020</c:v>
                  </c:pt>
                  <c:pt idx="18">
                    <c:v>2022</c:v>
                  </c:pt>
                  <c:pt idx="19">
                    <c:v>2024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1.85</c:v>
                </c:pt>
                <c:pt idx="1">
                  <c:v>1.8199999999999998</c:v>
                </c:pt>
                <c:pt idx="2">
                  <c:v>2.38</c:v>
                </c:pt>
                <c:pt idx="3">
                  <c:v>2</c:v>
                </c:pt>
                <c:pt idx="4">
                  <c:v>1.7</c:v>
                </c:pt>
                <c:pt idx="5">
                  <c:v>1.7</c:v>
                </c:pt>
                <c:pt idx="6">
                  <c:v>1.9100000000000001</c:v>
                </c:pt>
                <c:pt idx="7">
                  <c:v>1.7899999999999998</c:v>
                </c:pt>
                <c:pt idx="8">
                  <c:v>2.87</c:v>
                </c:pt>
                <c:pt idx="9">
                  <c:v>2.8899999999999997</c:v>
                </c:pt>
                <c:pt idx="10">
                  <c:v>5.46</c:v>
                </c:pt>
                <c:pt idx="11">
                  <c:v>9.690000000000001</c:v>
                </c:pt>
                <c:pt idx="12">
                  <c:v>11.129999999999999</c:v>
                </c:pt>
                <c:pt idx="13">
                  <c:v>10.86</c:v>
                </c:pt>
                <c:pt idx="14">
                  <c:v>5.2299999999999995</c:v>
                </c:pt>
                <c:pt idx="15">
                  <c:v>5.41</c:v>
                </c:pt>
                <c:pt idx="16">
                  <c:v>6.43</c:v>
                </c:pt>
                <c:pt idx="17">
                  <c:v>4.2</c:v>
                </c:pt>
                <c:pt idx="18">
                  <c:v>10.09</c:v>
                </c:pt>
                <c:pt idx="19">
                  <c:v>8.05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Oil Volatility (Std Dev)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19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70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70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85A9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85A9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2008</c:v>
                  </c:pt>
                  <c:pt idx="1">
                    <c:v>2014</c:v>
                  </c:pt>
                  <c:pt idx="2">
                    <c:v>2022</c:v>
                  </c:pt>
                  <c:pt idx="3">
                    <c:v>2009</c:v>
                  </c:pt>
                  <c:pt idx="4">
                    <c:v>2020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28.9</c:v>
                </c:pt>
                <c:pt idx="1">
                  <c:v>14.8</c:v>
                </c:pt>
                <c:pt idx="2">
                  <c:v>13.4</c:v>
                </c:pt>
                <c:pt idx="3">
                  <c:v>12.3</c:v>
                </c:pt>
                <c:pt idx="4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193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731520"/>
            <a:ext cx="1280160" cy="12801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0432" y="9144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🛢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Middle East Conflict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India's Economy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371600" y="2148840"/>
            <a:ext cx="6400800" cy="0"/>
          </a:xfrm>
          <a:prstGeom prst="line">
            <a:avLst/>
          </a:prstGeom>
          <a:noFill/>
          <a:ln w="25400">
            <a:solidFill>
              <a:srgbClr val="185A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Prices · Inflation · Geopolitical Risk · Economic Resilience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2880360"/>
            <a:ext cx="201168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85A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Years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3383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0" y="2880360"/>
            <a:ext cx="201168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85A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9,864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0" y="3383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Oil Records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880360"/>
            <a:ext cx="201168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85A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3383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Analyzed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Sreeharsh  |  B.Tech CSE · VJEC, Kannur University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Data Analytics Certified  ·  Microsoft PL-300 Power BI  ·  IEDC Core Member  ·  IEEE Student Member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051560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515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Middle East conflict influence India's economic stability — in oil prices, trade, and market performance — and what strategies can mitigate these effects?</a:t>
            </a:r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31720"/>
            <a:ext cx="64008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04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Inflation Surge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price spikes directly raise costs for transportation, manufacturing &amp; agriculture — fuelling CPI inflation across India.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3317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331720"/>
            <a:ext cx="64008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404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Energy Insecurity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743200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imports ~85% of crude oil. Middle East conflicts threaten supply chain continuity and energy affordability.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11880"/>
            <a:ext cx="64008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85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💱 Currency Pressure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priced in USD. Geopolitical shocks weaken the Rupee, compounding import costs and widening the Current Account Deficit.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611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611880"/>
            <a:ext cx="64008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685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Trade Disruption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4023360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Sea shipping lane conflicts raise freight costs and delay exports/imports, impacting ₹3+ trillion in bilateral trade.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Methodology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114800" cy="457200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332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— WDI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54480" y="1554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FP.CPI.TOTL.ZG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54480" y="18013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Inflation, Consumer Prices (Annual %)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04825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54480" y="20482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 countries · 1960–2024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29514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54480" y="229514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 rows, 66 year columns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5420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54480" y="2542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Format CSV (4-row metadata header)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00584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005840"/>
            <a:ext cx="4114800" cy="457200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0332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EIA — Brent Crude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1554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35040" y="1554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RBRTD (Daily)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18013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18013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Brent Spot Price FOB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204825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35040" y="20482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1987–2026 · Daily records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37760" y="229514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35040" y="229514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9,864 daily price records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37760" y="25420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35040" y="2542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CSV (4-row metadata header)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0040" y="3154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28600" y="3566160"/>
            <a:ext cx="1261872" cy="1051560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65176" y="3593592"/>
            <a:ext cx="1188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CSV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(skiprows=4)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490472" y="4087368"/>
            <a:ext cx="20116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91640" y="3566160"/>
            <a:ext cx="1261872" cy="1051560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728216" y="3593592"/>
            <a:ext cx="1188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Clean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953512" y="4087368"/>
            <a:ext cx="20116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54680" y="3566160"/>
            <a:ext cx="1261872" cy="1051560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191256" y="3593592"/>
            <a:ext cx="1188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Oil: Daily→Annual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 + Feature Eng.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416552" y="4087368"/>
            <a:ext cx="20116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17720" y="3566160"/>
            <a:ext cx="1261872" cy="1051560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54296" y="3593592"/>
            <a:ext cx="1188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Inflation: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Wide→Long Melt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879592" y="4087368"/>
            <a:ext cx="20116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80760" y="3566160"/>
            <a:ext cx="1261872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117336" y="3593592"/>
            <a:ext cx="1188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Join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Dataset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342632" y="4087368"/>
            <a:ext cx="20116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43800" y="3566160"/>
            <a:ext cx="1261872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580376" y="3593592"/>
            <a:ext cx="1188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Power BI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Feature Engineering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54864" cy="749808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1106424"/>
            <a:ext cx="384048" cy="384048"/>
          </a:xfrm>
          <a:prstGeom prst="ellipse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106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0332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Metadata Headers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3258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CSVs had 4-row descriptive headers (source URL, timestamps). Used skiprows=4 to load actual tabular data correctly.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21808" y="1051560"/>
            <a:ext cx="3401568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8384" y="1069848"/>
            <a:ext cx="33284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pd.read_csv("file.csv", skiprows=4)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178308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783080"/>
            <a:ext cx="54864" cy="749808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" y="1929384"/>
            <a:ext cx="384048" cy="384048"/>
          </a:xfrm>
          <a:prstGeom prst="ellipse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1929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18562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Standardization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148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'Europe Brent Spot Price FOB Dollars per Barrel' to 'oil_price'. Applied snake_case across all columns for SQL/Python compatibility.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321808" y="1874520"/>
            <a:ext cx="3401568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58384" y="1892808"/>
            <a:ext cx="33284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oil_raw.columns = ["date", "oil_price"]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260604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606040"/>
            <a:ext cx="54864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" y="2752344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752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26791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→ Annual Oil Aggregation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29718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was daily. Computed avg_oil_price (mean) and oil_volatility (std deviation) per year. Volatility = our 'uncertainty index' for conflict years.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21808" y="2697480"/>
            <a:ext cx="3401568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58384" y="2715768"/>
            <a:ext cx="33284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oil.groupby("year")["oil_price"].agg(avg="mean", vol="std")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42900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429000"/>
            <a:ext cx="54864" cy="749808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2336" y="3575304"/>
            <a:ext cx="384048" cy="384048"/>
          </a:xfrm>
          <a:prstGeom prst="ellipse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" y="3575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" y="35021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→ Long Inflation Melt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680" y="3794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data had years as 66 columns. pd.melt() converted it to one row per year — the only format Power BI time-series visuals can use.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321808" y="3520440"/>
            <a:ext cx="3401568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58384" y="3538728"/>
            <a:ext cx="33284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pd.melt(id_vars=["Country Code"], value_vars=year_cols)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425196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4251960"/>
            <a:ext cx="54864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2336" y="4398264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43982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8680" y="43251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Oil Shock 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68680" y="46177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oil_price_shock_pct = year-over-year price change %. This is the 'Conflict Marker' — spikes here flag geopolitical events like Gulf War, Arab Spring.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321808" y="4343400"/>
            <a:ext cx="3401568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58384" y="4361688"/>
            <a:ext cx="33284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oil["oil_price_shock_pct"] = oil["avg_oil_price"].pct_change()*100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Dataset: india_geopolitics_analysis_master.csv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Schema (9 Columns × 38 Rows | Year Range: 1987–2024)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1828800" cy="347472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99032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1353312"/>
            <a:ext cx="1188720" cy="347472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399032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353312"/>
            <a:ext cx="3749040" cy="347472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99032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1353312"/>
            <a:ext cx="1645920" cy="347472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1399032"/>
            <a:ext cx="1600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700784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3736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85A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103120" y="1700784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1737360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91840" y="1700784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737360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year (1987–2024)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040880" y="1700784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173736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048256"/>
            <a:ext cx="18288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084832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85A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country_name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03120" y="2048256"/>
            <a:ext cx="118872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48840" y="2084832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91840" y="2048256"/>
            <a:ext cx="37490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2084832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040880" y="2048256"/>
            <a:ext cx="164592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6600" y="208483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2395728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432304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85A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country_code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103120" y="2395728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48840" y="2432304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91840" y="2395728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2432304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 (ISO-3166 Alpha-3)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040880" y="2395728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0" y="2432304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2743200"/>
            <a:ext cx="18288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77977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85A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103120" y="2743200"/>
            <a:ext cx="118872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48840" y="2779776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91840" y="2743200"/>
            <a:ext cx="37490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37560" y="2779776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Asia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040880" y="2743200"/>
            <a:ext cx="164592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86600" y="2779776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 Metadata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3090672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12724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85A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IncomeGroup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103120" y="3090672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48840" y="3127248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91840" y="3090672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37560" y="3127248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middle income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040880" y="3090672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86600" y="312724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 Metadata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3438144"/>
            <a:ext cx="18288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347472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85A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inflation_pct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103120" y="3438144"/>
            <a:ext cx="118872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48840" y="3474720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291840" y="3438144"/>
            <a:ext cx="37490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37560" y="3474720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CPI Inflation (%)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040880" y="3438144"/>
            <a:ext cx="164592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86600" y="347472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74320" y="3785616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3822192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85A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avg_oil_price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103120" y="3785616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48840" y="3822192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291840" y="3785616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37560" y="3822192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Brent Crude USD/barrel that year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040880" y="3785616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086600" y="382219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 (Aggregated)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74320" y="4133088"/>
            <a:ext cx="18288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4169664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85A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oil_volatility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2103120" y="4133088"/>
            <a:ext cx="118872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148840" y="4169664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291840" y="4133088"/>
            <a:ext cx="37490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37560" y="4169664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deviation of daily oil prices — Uncertainty Index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040880" y="4133088"/>
            <a:ext cx="164592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086600" y="4169664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 (Derived)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74320" y="4480560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0040" y="451713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85A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oil_price_shock_pct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103120" y="4480560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148840" y="4517136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291840" y="4480560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337560" y="4517136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% change in oil price — Conflict Marker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040880" y="4480560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086600" y="4517136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 (Engineered)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274320" y="4544568"/>
            <a:ext cx="859536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7200" y="456285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Feature Engineered Columns: oil_volatility (conflict uncertainty index) and oil_price_shock_pct (geopolitical event marker) are derived — not raw data. These are the analytical backbone of this project.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Inflation vs. Brent Oil Price (1987–2024)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91440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1005840"/>
            <a:ext cx="201168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94576" y="104241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94576" y="1316736"/>
            <a:ext cx="19385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War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 Crisis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13.9% Inflation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858000" y="1956816"/>
            <a:ext cx="2011680" cy="868680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94576" y="199339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94576" y="2267712"/>
            <a:ext cx="19385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Crisis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Oil: $96/bbl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8.3% Inflation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858000" y="2907792"/>
            <a:ext cx="2011680" cy="868680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94576" y="294436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94576" y="3218688"/>
            <a:ext cx="19385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 Spring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Oil: $111/bbl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8.9% Inflation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858000" y="3858768"/>
            <a:ext cx="2011680" cy="868680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94576" y="3895344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94576" y="4169664"/>
            <a:ext cx="19385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Russia-Ukraine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Oil: $101/bbl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6.7% Inflation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Events &amp; India's Economic Response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64008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247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60120" y="10058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1990–91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2710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War — Iraq Invades Kuwait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0" y="1005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Oil: $24 → $20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0" y="12710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Inflation: 9.0% → 13.9%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89320" y="1051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India's 1991 BOP crisis. IMF bailout required.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" y="1655064"/>
            <a:ext cx="8686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1655064"/>
            <a:ext cx="640080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8196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0120" y="17007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19659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Invasion of Iraq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97680" y="17007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Oil: $28.9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1965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Inflation: 3.8%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9320" y="17465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liberalised economy absorbed shock. Tech boom cushioned impact.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" y="2350008"/>
            <a:ext cx="8686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350008"/>
            <a:ext cx="64008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514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0120" y="23957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26609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Financial Crisis + Oil Spike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97680" y="23957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Oil: $96.9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26609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Inflation: 8.3%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89320" y="244144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shock: $147/bbl peak + global demand collapse hit India hard.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8600" y="3044952"/>
            <a:ext cx="8686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3044952"/>
            <a:ext cx="64008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32095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60120" y="30906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0120" y="33558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 Spring Uprisings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97680" y="30906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Oil: $111.3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97680" y="33558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Inflation: 8.9%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89320" y="31363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oil price on record to that point. Rupee weakened significantly.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28600" y="3739896"/>
            <a:ext cx="8686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28600" y="3739896"/>
            <a:ext cx="640080" cy="621792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39044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60120" y="37856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60120" y="40507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Russia-Ukraine + Middle East Tensions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297680" y="37856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Oil: $100.9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297680" y="40507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Inflation: 6.7%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89320" y="383133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RBI's proactive rate hikes contained inflation despite oil above $100.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28600" y="4434840"/>
            <a:ext cx="8686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28600" y="4434840"/>
            <a:ext cx="640080" cy="621792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45994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60120" y="44805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60120" y="47457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Israel-Hamas War / Red Sea Disruptions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297680" y="4480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Oil: $82.5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297680" y="47457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Inflation: 5.6%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989320" y="4526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Houthi attacks raised shipping costs; inflation still near RBI's 4% target.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— Key Query Results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Most Volatile Oil Years (Conflict Markers)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280160"/>
          <a:ext cx="5029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486400" y="9144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Decade-Wise Risk Analysis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0" y="1325880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0" y="1325880"/>
            <a:ext cx="64008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96128" y="136245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1987–1999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596128" y="15544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Inflation: 9.2%  |  Avg Oil: $17.9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046720" y="1417320"/>
            <a:ext cx="749808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0" y="141732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486400" y="1837944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0" y="1837944"/>
            <a:ext cx="64008" cy="457200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96128" y="18745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2000–2009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596128" y="20665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Inflation: 5.7%  |  Avg Oil: $45.4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046720" y="1929384"/>
            <a:ext cx="749808" cy="274320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46720" y="192938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5486400" y="2350008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0" y="2350008"/>
            <a:ext cx="64008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96128" y="238658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2010–2019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596128" y="25786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Inflation: 6.5%  |  Avg Oil: $84.8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046720" y="2441448"/>
            <a:ext cx="749808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46720" y="244144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5486400" y="2862072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486400" y="2862072"/>
            <a:ext cx="64008" cy="457200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96128" y="28986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2020–2024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596128" y="309067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Inflation: 5.8%  |  Avg Oil: $75.2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046720" y="2953512"/>
            <a:ext cx="749808" cy="274320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46720" y="295351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274320" y="3520440"/>
            <a:ext cx="8595360" cy="3200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" y="35387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SQL Queries Written: Overview · Top 5 Volatile · Largest Shocks · Decade Analysis · Conflict Events · Risk Classification · Resilience by Era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74320" y="3913632"/>
            <a:ext cx="859536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39502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Key SQL Insight: India's Inflation Resilience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7200" y="423367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1991, an oil shock of 30% caused inflation of 13.9%. In 2022, an oil shock of 42% caused only 6.7% inflation. SQL Query 7 (Resilience by Era) confirms India's structural economic improvements over 3 decades have significantly reduced oil shock pass-through to consumer prices.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4-Page Executive Design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160520" cy="457200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149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Pulse of the Economy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4721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KPI Card: Current Oil Price (USD/bbl)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7739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KPI Card: India's Latest Inflation (%)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0756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KPI Card: Oil Volatility Index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377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Line Chart: Oil Price vs. India CPI (1987–2024)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60120"/>
            <a:ext cx="4160520" cy="457200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0149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Geopolitical Timeline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4721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Dual-Axis Line Chart: Oil &amp; Inflation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17739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Conflict Markers: 1990, 2003, 2011, 2022, 2023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20756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Reference Lines at key oil price levels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2377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Tooltip: Event name + impact summary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971800"/>
            <a:ext cx="416052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02666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 Risk Heatmap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4838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Matrix: Decade × Risk Category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37856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Colour coding by oil volatility quartile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" y="40873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Slicer: Filter by decade / risk level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4389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DAX: Risk Classification measure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971800"/>
            <a:ext cx="416052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02666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 Shock Simulator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4838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What-If Parameter: Oil Price Change 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46320" y="37856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DAX: Predicted inflation based on history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0" y="40873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Output card: Simulated Inflation %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46320" y="4389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Scatter: Oil Shock vs. Actual Inflation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4636008"/>
            <a:ext cx="868680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 DAX Measures: Risk Classification (SWITCH), Oil Shock Impact (CALCULATE + FILTER), Decade Avg Inflation, What-If Predicted Inflation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for India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6400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698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Expand Strategic Petroleum Reserves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140817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SPR covers ~9 days. IEA recommends 90 days. Target 30–45 days to buffer supply shocks from Middle East conflict disruptions.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21608" y="1069848"/>
            <a:ext cx="621792" cy="256032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1608" y="1069848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28600" y="230428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304288"/>
            <a:ext cx="6400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36829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Accelerate Renewable Energy Transition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" y="270662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1% rise in domestic renewables reduces oil import dependency. Government's 500 GW renewable target by 2030 directly reduces geopolitical vulnerability.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21608" y="2368296"/>
            <a:ext cx="621792" cy="256032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21608" y="236829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228600" y="360273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602736"/>
            <a:ext cx="6400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366674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💱 Rupee Hedging &amp; Currency Swap Agreements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" y="40050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imports priced in USD. INR depreciation during conflicts doubles the impact. RBI forward contracts and GCC currency swap deals reduce dual exposure risk.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21608" y="3666744"/>
            <a:ext cx="621792" cy="256032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21608" y="366674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800600" y="100584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005840"/>
            <a:ext cx="6400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10698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Diversify Import Sources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65192" y="140817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already buys from Russia, UAE, Saudi, USA. Further diversification to West Africa and Latin America insulates against single-region conflict risk.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293608" y="1069848"/>
            <a:ext cx="621792" cy="256032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1069848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800600" y="230428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2304288"/>
            <a:ext cx="6400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236829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Pre-Emptive Monetary Policy Response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65192" y="270662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shows 2022 RBI rate hikes kept inflation at 6.7% despite $101/bbl oil — vs. 13.9% in 1991 without policy response. Institutionalise early warning triggers.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293608" y="2368296"/>
            <a:ext cx="621792" cy="256032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93608" y="236829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Deliverables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160520" cy="411480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README.md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44475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methodology, findings, recommendations. GitHub project homepage with full executive summary.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4160520" cy="411480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data_cleaning.py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44475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6-step ETL pipeline: skiprows, snake_case, daily→annual aggregation, Wide→Long melt, 3-way join, validation, export.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286000"/>
            <a:ext cx="416052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india_geopolitics_analysis_master.csv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77063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38-row × 9-column clean analytical dataset. The single source of truth for all Power BI visuals and SQL queries.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22860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286000"/>
            <a:ext cx="416052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SQL_Analysis_Queries.sql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77063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professional SQL queries covering overview, top volatile years, largest shocks, decade analysis, conflict events, risk classification, resilience by era.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3611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611880"/>
            <a:ext cx="4160520" cy="411480"/>
          </a:xfrm>
          <a:prstGeom prst="rect">
            <a:avLst/>
          </a:prstGeom>
          <a:solidFill>
            <a:srgbClr val="185A9D"/>
          </a:solidFill>
          <a:ln w="12700">
            <a:solidFill>
              <a:srgbClr val="185A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657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Geopolitics_Impact_Analysis.pbix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09651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Power BI dashboard: Economy Pulse, Geopolitical Timeline, Risk Heatmap, What-If Shock Simulator with DAX measures.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3611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611880"/>
            <a:ext cx="41605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657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Presentation.pptx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409651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11-slide professional deck covering problem, data, methodology, ETL, findings, SQL results, dashboard design, recommendations.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Middle East Conflict on India's Economy</dc:title>
  <dc:subject>PptxGenJS Presentation</dc:subject>
  <dc:creator>Sreeharsh</dc:creator>
  <cp:lastModifiedBy>Sreeharsh</cp:lastModifiedBy>
  <cp:revision>1</cp:revision>
  <dcterms:created xsi:type="dcterms:W3CDTF">2026-04-11T03:50:49Z</dcterms:created>
  <dcterms:modified xsi:type="dcterms:W3CDTF">2026-04-11T03:50:49Z</dcterms:modified>
</cp:coreProperties>
</file>